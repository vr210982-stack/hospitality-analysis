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2" r:id="rId5"/>
    <p:sldId id="259" r:id="rId6"/>
    <p:sldId id="260" r:id="rId7"/>
    <p:sldId id="267" r:id="rId8"/>
    <p:sldId id="263" r:id="rId9"/>
    <p:sldId id="264" r:id="rId10"/>
    <p:sldId id="265" r:id="rId11"/>
    <p:sldId id="266" r:id="rId12"/>
    <p:sldId id="26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063B2A7-544B-4612-9CD2-D72E552510B9}"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02E7BB4-8364-4090-AB3C-BE36CA98891C}"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63B2A7-544B-4612-9CD2-D72E552510B9}"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02E7BB4-8364-4090-AB3C-BE36CA98891C}"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63B2A7-544B-4612-9CD2-D72E552510B9}"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02E7BB4-8364-4090-AB3C-BE36CA98891C}"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63B2A7-544B-4612-9CD2-D72E552510B9}" type="datetimeFigureOut">
              <a:rPr lang="en-IN" smtClean="0"/>
              <a:t>01-11-2025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02E7BB4-8364-4090-AB3C-BE36CA98891C}"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63B2A7-544B-4612-9CD2-D72E552510B9}" type="datetimeFigureOut">
              <a:rPr lang="en-IN" smtClean="0"/>
              <a:t>01-11-2025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02E7BB4-8364-4090-AB3C-BE36CA98891C}"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063B2A7-544B-4612-9CD2-D72E552510B9}" type="datetimeFigureOut">
              <a:rPr lang="en-IN" smtClean="0"/>
              <a:t>01-11-2025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02E7BB4-8364-4090-AB3C-BE36CA98891C}"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63B2A7-544B-4612-9CD2-D72E552510B9}" type="datetimeFigureOut">
              <a:rPr lang="en-IN" smtClean="0"/>
              <a:t>01-11-2025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02E7BB4-8364-4090-AB3C-BE36CA98891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63B2A7-544B-4612-9CD2-D72E552510B9}" type="datetimeFigureOut">
              <a:rPr lang="en-IN" smtClean="0"/>
              <a:t>01-11-2025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02E7BB4-8364-4090-AB3C-BE36CA98891C}"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63B2A7-544B-4612-9CD2-D72E552510B9}" type="datetimeFigureOut">
              <a:rPr lang="en-IN" smtClean="0"/>
              <a:t>01-11-2025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02E7BB4-8364-4090-AB3C-BE36CA98891C}"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63B2A7-544B-4612-9CD2-D72E552510B9}"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02E7BB4-8364-4090-AB3C-BE36CA98891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63B2A7-544B-4612-9CD2-D72E552510B9}"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02E7BB4-8364-4090-AB3C-BE36CA98891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063B2A7-544B-4612-9CD2-D72E552510B9}" type="datetimeFigureOut">
              <a:rPr lang="en-IN" smtClean="0"/>
              <a:t>01-11-2025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02E7BB4-8364-4090-AB3C-BE36CA98891C}"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063B2A7-544B-4612-9CD2-D72E552510B9}" type="datetimeFigureOut">
              <a:rPr lang="en-IN" smtClean="0"/>
              <a:t>01-11-2025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02E7BB4-8364-4090-AB3C-BE36CA98891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063B2A7-544B-4612-9CD2-D72E552510B9}" type="datetimeFigureOut">
              <a:rPr lang="en-IN" smtClean="0"/>
              <a:t>01-11-2025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02E7BB4-8364-4090-AB3C-BE36CA98891C}"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63B2A7-544B-4612-9CD2-D72E552510B9}"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02E7BB4-8364-4090-AB3C-BE36CA98891C}"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63B2A7-544B-4612-9CD2-D72E552510B9}"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02E7BB4-8364-4090-AB3C-BE36CA98891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063B2A7-544B-4612-9CD2-D72E552510B9}" type="datetimeFigureOut">
              <a:rPr lang="en-IN" smtClean="0"/>
              <a:t>01-11-2025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02E7BB4-8364-4090-AB3C-BE36CA98891C}"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9106" y="1228165"/>
            <a:ext cx="7171765" cy="1549959"/>
          </a:xfrm>
        </p:spPr>
        <p:txBody>
          <a:bodyPr>
            <a:normAutofit fontScale="90000"/>
          </a:bodyPr>
          <a:lstStyle/>
          <a:p>
            <a:r>
              <a:rPr lang="en-US" b="1" dirty="0">
                <a:solidFill>
                  <a:schemeClr val="accent1"/>
                </a:solidFill>
              </a:rPr>
              <a:t>Hospitality Project Presentation</a:t>
            </a:r>
            <a:endParaRPr lang="en-IN" b="1" dirty="0">
              <a:solidFill>
                <a:schemeClr val="accent1"/>
              </a:solidFill>
            </a:endParaRPr>
          </a:p>
        </p:txBody>
      </p:sp>
      <p:sp>
        <p:nvSpPr>
          <p:cNvPr id="3" name="Subtitle 2"/>
          <p:cNvSpPr>
            <a:spLocks noGrp="1"/>
          </p:cNvSpPr>
          <p:nvPr>
            <p:ph type="subTitle" idx="1"/>
          </p:nvPr>
        </p:nvSpPr>
        <p:spPr>
          <a:xfrm>
            <a:off x="2393576" y="2778125"/>
            <a:ext cx="8274424" cy="2502087"/>
          </a:xfrm>
        </p:spPr>
        <p:txBody>
          <a:bodyPr>
            <a:normAutofit fontScale="25000"/>
          </a:bodyPr>
          <a:lstStyle/>
          <a:p>
            <a:pPr algn="l"/>
            <a:r>
              <a:rPr lang="en-US" sz="14400" b="1" dirty="0"/>
              <a:t>From: Group </a:t>
            </a:r>
            <a:r>
              <a:rPr lang="en-IN" altLang="en-US" sz="14400" b="1" dirty="0"/>
              <a:t>3</a:t>
            </a:r>
            <a:endParaRPr lang="en-US" sz="14400" b="1" dirty="0"/>
          </a:p>
          <a:p>
            <a:pPr algn="l"/>
            <a:r>
              <a:rPr lang="en-IN" sz="7200" dirty="0"/>
              <a:t>Kishore Kumar Agidi</a:t>
            </a:r>
          </a:p>
          <a:p>
            <a:pPr algn="l"/>
            <a:r>
              <a:rPr lang="en-IN" sz="7200" dirty="0"/>
              <a:t>Anju Vettathil</a:t>
            </a:r>
          </a:p>
          <a:p>
            <a:pPr algn="l"/>
            <a:r>
              <a:rPr lang="en-IN" sz="7200" dirty="0"/>
              <a:t>Shazmeen Fathima</a:t>
            </a:r>
          </a:p>
          <a:p>
            <a:pPr algn="l"/>
            <a:r>
              <a:rPr lang="en-IN" sz="7200" dirty="0"/>
              <a:t>P Vijay Kumar</a:t>
            </a:r>
          </a:p>
          <a:p>
            <a:pPr algn="l"/>
            <a:r>
              <a:rPr lang="en-IN" sz="7200" dirty="0"/>
              <a:t>shalu Sharma</a:t>
            </a:r>
          </a:p>
          <a:p>
            <a:pPr algn="l"/>
            <a:r>
              <a:rPr lang="en-IN" sz="7200" dirty="0"/>
              <a:t>Vishal Kanti Rajput</a:t>
            </a:r>
          </a:p>
          <a:p>
            <a:pPr algn="l"/>
            <a:r>
              <a:rPr lang="en-IN" sz="7200" dirty="0"/>
              <a:t>Ponnam Manisha</a:t>
            </a:r>
          </a:p>
          <a:p>
            <a:pPr algn="l"/>
            <a:endParaRPr lang="en-IN" dirty="0"/>
          </a:p>
          <a:p>
            <a:pPr algn="l"/>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endParaRPr lang="en-IN" dirty="0"/>
          </a:p>
        </p:txBody>
      </p:sp>
      <p:sp>
        <p:nvSpPr>
          <p:cNvPr id="3" name="Content Placeholder 2"/>
          <p:cNvSpPr>
            <a:spLocks noGrp="1"/>
          </p:cNvSpPr>
          <p:nvPr>
            <p:ph idx="1"/>
          </p:nvPr>
        </p:nvSpPr>
        <p:spPr/>
        <p:txBody>
          <a:bodyPr>
            <a:normAutofit/>
          </a:bodyPr>
          <a:lstStyle/>
          <a:p>
            <a:r>
              <a:rPr lang="en-US" dirty="0"/>
              <a:t>Hospitality means the friendly and generous reception of guests, visitors, or strangers.</a:t>
            </a:r>
          </a:p>
          <a:p>
            <a:r>
              <a:rPr lang="en-US" dirty="0"/>
              <a:t>It involves providing comfort, care, and services in industries like hotels, restaurants, and tourism.</a:t>
            </a:r>
          </a:p>
          <a:p>
            <a:r>
              <a:rPr lang="en-US" dirty="0"/>
              <a:t>In business, hospitality focuses on creating positive guest experiences, improving satisfaction, and building long-term relationships.</a:t>
            </a:r>
          </a:p>
          <a:p>
            <a:r>
              <a:rPr lang="en-US" dirty="0"/>
              <a:t>It can refer to the personal act of a host welcoming someone to their home or, more broadly, to a commercial industry that provides services like food, drink, accommodation, and entertainment to paying customers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p:txBody>
          <a:bodyPr/>
          <a:lstStyle/>
          <a:p>
            <a:r>
              <a:rPr lang="en-US" dirty="0"/>
              <a:t>Understand and analyze hospitality industry data</a:t>
            </a:r>
          </a:p>
          <a:p>
            <a:r>
              <a:rPr lang="en-US" dirty="0"/>
              <a:t>Build dashboards using Excel, Power BI, Tableau, and SQL</a:t>
            </a:r>
          </a:p>
          <a:p>
            <a:r>
              <a:rPr lang="en-US" dirty="0"/>
              <a:t>Identify patterns and KPIs for decision-making</a:t>
            </a:r>
          </a:p>
          <a:p>
            <a:r>
              <a:rPr lang="en-US" dirty="0"/>
              <a:t>Provide insights for improving occupancy and revenue</a:t>
            </a:r>
          </a:p>
          <a:p>
            <a:r>
              <a:rPr lang="en-US" dirty="0"/>
              <a:t>Develop recommendations for data-driven hospitality management</a:t>
            </a:r>
          </a:p>
          <a:p>
            <a:endParaRPr lang="en-US" dirty="0"/>
          </a:p>
          <a:p>
            <a:endParaRPr lang="en-US" dirty="0"/>
          </a:p>
          <a:p>
            <a:endParaRPr lang="en-US" dirty="0"/>
          </a:p>
          <a:p>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KPI CARDS</a:t>
            </a:r>
            <a:br>
              <a:rPr lang="en-US" dirty="0"/>
            </a:br>
            <a:endParaRPr lang="en-IN" dirty="0"/>
          </a:p>
        </p:txBody>
      </p:sp>
      <p:sp>
        <p:nvSpPr>
          <p:cNvPr id="3" name="Content Placeholder 2"/>
          <p:cNvSpPr>
            <a:spLocks noGrp="1"/>
          </p:cNvSpPr>
          <p:nvPr>
            <p:ph idx="1"/>
          </p:nvPr>
        </p:nvSpPr>
        <p:spPr/>
        <p:txBody>
          <a:bodyPr/>
          <a:lstStyle/>
          <a:p>
            <a:r>
              <a:rPr lang="en-US"/>
              <a:t>The business achieved 1.71B in revenue with 134,590 bookings, maintaining a healthy utilization of 57.87% despite a 24.83% cancellation rate.”</a:t>
            </a:r>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0225" y="2938415"/>
            <a:ext cx="8592749" cy="9173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Faced</a:t>
            </a:r>
          </a:p>
        </p:txBody>
      </p:sp>
      <p:sp>
        <p:nvSpPr>
          <p:cNvPr id="3" name="Content Placeholder 2"/>
          <p:cNvSpPr>
            <a:spLocks noGrp="1"/>
          </p:cNvSpPr>
          <p:nvPr>
            <p:ph idx="1"/>
          </p:nvPr>
        </p:nvSpPr>
        <p:spPr/>
        <p:txBody>
          <a:bodyPr>
            <a:normAutofit/>
          </a:bodyPr>
          <a:lstStyle/>
          <a:p>
            <a:r>
              <a:rPr lang="en-US" dirty="0"/>
              <a:t>Difficulty cleaning and integrating data from multiple sources</a:t>
            </a:r>
          </a:p>
          <a:p>
            <a:r>
              <a:rPr lang="en-US" dirty="0"/>
              <a:t>Handling large datasets in Excel and SQL</a:t>
            </a:r>
          </a:p>
          <a:p>
            <a:r>
              <a:rPr lang="en-US" dirty="0"/>
              <a:t>Query errors and optimization issues in SQL</a:t>
            </a:r>
          </a:p>
          <a:p>
            <a:r>
              <a:rPr lang="en-US" dirty="0"/>
              <a:t>Designing visually appealing and interactive dashboards</a:t>
            </a:r>
          </a:p>
          <a:p>
            <a:r>
              <a:rPr lang="en-US" dirty="0"/>
              <a:t>Duplicate bookings, null values, and inconsistent formats (e.g., date/time or currency) lead to incorrect reports.</a:t>
            </a:r>
          </a:p>
          <a:p>
            <a:r>
              <a:rPr lang="en-US" dirty="0"/>
              <a:t>Large data volumes (e.g., years of bookings, transactions) slow down dashboards in Power BI/Tableau.</a:t>
            </a:r>
          </a:p>
          <a:p>
            <a:r>
              <a:rPr lang="en-US" dirty="0"/>
              <a:t>Some Dashboard look goods on desktop but break on mobile/tablets.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Solutions</a:t>
            </a:r>
          </a:p>
        </p:txBody>
      </p:sp>
      <p:sp>
        <p:nvSpPr>
          <p:cNvPr id="3" name="Content Placeholder 2"/>
          <p:cNvSpPr>
            <a:spLocks noGrp="1"/>
          </p:cNvSpPr>
          <p:nvPr>
            <p:ph idx="1"/>
          </p:nvPr>
        </p:nvSpPr>
        <p:spPr/>
        <p:txBody>
          <a:bodyPr/>
          <a:lstStyle/>
          <a:p>
            <a:r>
              <a:rPr lang="en-US" dirty="0"/>
              <a:t>Adopt proper data cleaning techniques before visualization</a:t>
            </a:r>
          </a:p>
          <a:p>
            <a:r>
              <a:rPr lang="en-US" dirty="0"/>
              <a:t>Use efficient SQL queries with joins and indexing</a:t>
            </a:r>
          </a:p>
          <a:p>
            <a:r>
              <a:rPr lang="en-US" dirty="0"/>
              <a:t>Standardize data formats across all tools</a:t>
            </a:r>
          </a:p>
          <a:p>
            <a:r>
              <a:rPr lang="en-US" dirty="0"/>
              <a:t>Design dashboards with clear KPIs and filters</a:t>
            </a:r>
          </a:p>
          <a:p>
            <a:r>
              <a:rPr lang="en-US" dirty="0"/>
              <a:t>Use tooltips, slicers, and filters in Power BI/Tableau for interactivity.</a:t>
            </a:r>
          </a:p>
          <a:p>
            <a:r>
              <a:rPr lang="en-US" dirty="0"/>
              <a:t>Include legends and data labels for clarity.</a:t>
            </a:r>
          </a:p>
          <a:p>
            <a:r>
              <a:rPr lang="en-US" dirty="0"/>
              <a:t>Leverage Power BI and Tableau for interactive reporting</a:t>
            </a:r>
          </a:p>
          <a:p>
            <a:r>
              <a:rPr lang="en-US" dirty="0"/>
              <a:t>Regular testing and validation of dashboards</a:t>
            </a:r>
          </a:p>
          <a:p>
            <a:endParaRPr lang="en-US" dirty="0"/>
          </a:p>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95055" y="588109"/>
            <a:ext cx="3266902" cy="646331"/>
          </a:xfrm>
          <a:prstGeom prst="rect">
            <a:avLst/>
          </a:prstGeom>
          <a:noFill/>
        </p:spPr>
        <p:txBody>
          <a:bodyPr wrap="square" rtlCol="0">
            <a:spAutoFit/>
          </a:bodyPr>
          <a:lstStyle/>
          <a:p>
            <a:r>
              <a:rPr lang="en-US" sz="3600" dirty="0">
                <a:solidFill>
                  <a:schemeClr val="tx1">
                    <a:lumMod val="85000"/>
                    <a:lumOff val="15000"/>
                  </a:schemeClr>
                </a:solidFill>
                <a:latin typeface="+mj-lt"/>
                <a:ea typeface="+mj-ea"/>
                <a:cs typeface="+mj-cs"/>
              </a:rPr>
              <a:t>Visuals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754" y="1356244"/>
            <a:ext cx="4285689" cy="2682472"/>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755" y="4160520"/>
            <a:ext cx="6500553" cy="2682472"/>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1957" y="1356244"/>
            <a:ext cx="6226231" cy="2682472"/>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87369" y="4160520"/>
            <a:ext cx="4275635" cy="2606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Excel_Dashboard</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8400" y="1267536"/>
            <a:ext cx="8686800" cy="4813224"/>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09454" y="615141"/>
            <a:ext cx="5885411" cy="646331"/>
          </a:xfrm>
          <a:prstGeom prst="rect">
            <a:avLst/>
          </a:prstGeom>
          <a:noFill/>
        </p:spPr>
        <p:txBody>
          <a:bodyPr wrap="square" rtlCol="0">
            <a:spAutoFit/>
          </a:bodyPr>
          <a:lstStyle/>
          <a:p>
            <a:pPr>
              <a:spcBef>
                <a:spcPct val="0"/>
              </a:spcBef>
            </a:pPr>
            <a:r>
              <a:rPr lang="en-US" sz="3600" dirty="0" err="1">
                <a:solidFill>
                  <a:schemeClr val="tx1">
                    <a:lumMod val="85000"/>
                    <a:lumOff val="15000"/>
                  </a:schemeClr>
                </a:solidFill>
                <a:latin typeface="+mj-lt"/>
                <a:ea typeface="+mj-ea"/>
                <a:cs typeface="+mj-cs"/>
              </a:rPr>
              <a:t>PowerBI</a:t>
            </a:r>
            <a:r>
              <a:rPr lang="en-US" sz="3600" dirty="0">
                <a:solidFill>
                  <a:schemeClr val="tx1">
                    <a:lumMod val="85000"/>
                    <a:lumOff val="15000"/>
                  </a:schemeClr>
                </a:solidFill>
                <a:latin typeface="+mj-lt"/>
                <a:ea typeface="+mj-ea"/>
                <a:cs typeface="+mj-cs"/>
              </a:rPr>
              <a:t> </a:t>
            </a:r>
            <a:r>
              <a:rPr lang="en-US" sz="3600" dirty="0" err="1">
                <a:solidFill>
                  <a:schemeClr val="tx1">
                    <a:lumMod val="85000"/>
                    <a:lumOff val="15000"/>
                  </a:schemeClr>
                </a:solidFill>
                <a:latin typeface="+mj-lt"/>
                <a:ea typeface="+mj-ea"/>
                <a:cs typeface="+mj-cs"/>
              </a:rPr>
              <a:t>DashBoard</a:t>
            </a:r>
            <a:endParaRPr lang="en-US" sz="3600" dirty="0">
              <a:solidFill>
                <a:schemeClr val="tx1">
                  <a:lumMod val="85000"/>
                  <a:lumOff val="15000"/>
                </a:schemeClr>
              </a:solidFill>
              <a:latin typeface="+mj-lt"/>
              <a:ea typeface="+mj-ea"/>
              <a:cs typeface="+mj-cs"/>
            </a:endParaRPr>
          </a:p>
        </p:txBody>
      </p:sp>
      <p:pic>
        <p:nvPicPr>
          <p:cNvPr id="2" name="Picture 1"/>
          <p:cNvPicPr>
            <a:picLocks noChangeAspect="1"/>
          </p:cNvPicPr>
          <p:nvPr/>
        </p:nvPicPr>
        <p:blipFill>
          <a:blip r:embed="rId2"/>
          <a:stretch>
            <a:fillRect/>
          </a:stretch>
        </p:blipFill>
        <p:spPr>
          <a:xfrm>
            <a:off x="1112520" y="1207135"/>
            <a:ext cx="9966960" cy="55778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52749" y="581890"/>
            <a:ext cx="4921134" cy="646331"/>
          </a:xfrm>
          <a:prstGeom prst="rect">
            <a:avLst/>
          </a:prstGeom>
          <a:noFill/>
        </p:spPr>
        <p:txBody>
          <a:bodyPr wrap="square" rtlCol="0">
            <a:spAutoFit/>
          </a:bodyPr>
          <a:lstStyle/>
          <a:p>
            <a:r>
              <a:rPr lang="en-US" sz="3600" dirty="0">
                <a:solidFill>
                  <a:schemeClr val="tx1">
                    <a:lumMod val="85000"/>
                    <a:lumOff val="15000"/>
                  </a:schemeClr>
                </a:solidFill>
                <a:latin typeface="+mj-lt"/>
                <a:ea typeface="+mj-ea"/>
                <a:cs typeface="+mj-cs"/>
              </a:rPr>
              <a:t>Tableau </a:t>
            </a:r>
            <a:r>
              <a:rPr lang="en-US" sz="3600" dirty="0" err="1">
                <a:solidFill>
                  <a:schemeClr val="tx1">
                    <a:lumMod val="85000"/>
                    <a:lumOff val="15000"/>
                  </a:schemeClr>
                </a:solidFill>
                <a:latin typeface="+mj-lt"/>
                <a:ea typeface="+mj-ea"/>
                <a:cs typeface="+mj-cs"/>
              </a:rPr>
              <a:t>DashBoard</a:t>
            </a:r>
            <a:endParaRPr lang="en-US" sz="3600" dirty="0">
              <a:solidFill>
                <a:schemeClr val="tx1">
                  <a:lumMod val="85000"/>
                  <a:lumOff val="15000"/>
                </a:schemeClr>
              </a:solidFill>
              <a:latin typeface="+mj-lt"/>
              <a:ea typeface="+mj-ea"/>
              <a:cs typeface="+mj-cs"/>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6043" y="1357296"/>
            <a:ext cx="10432473" cy="55007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05891" y="615142"/>
            <a:ext cx="4319847" cy="646331"/>
          </a:xfrm>
          <a:prstGeom prst="rect">
            <a:avLst/>
          </a:prstGeom>
          <a:noFill/>
        </p:spPr>
        <p:txBody>
          <a:bodyPr wrap="square" rtlCol="0">
            <a:spAutoFit/>
          </a:bodyPr>
          <a:lstStyle/>
          <a:p>
            <a:r>
              <a:rPr lang="en-US" sz="3600" dirty="0">
                <a:solidFill>
                  <a:schemeClr val="tx1">
                    <a:lumMod val="85000"/>
                    <a:lumOff val="15000"/>
                  </a:schemeClr>
                </a:solidFill>
                <a:latin typeface="+mj-lt"/>
                <a:ea typeface="+mj-ea"/>
                <a:cs typeface="+mj-cs"/>
              </a:rPr>
              <a:t>SQL</a:t>
            </a:r>
            <a:r>
              <a:rPr lang="en-US" dirty="0"/>
              <a:t> </a:t>
            </a:r>
            <a:r>
              <a:rPr lang="en-US" sz="3600" dirty="0">
                <a:solidFill>
                  <a:schemeClr val="tx1">
                    <a:lumMod val="85000"/>
                    <a:lumOff val="15000"/>
                  </a:schemeClr>
                </a:solidFill>
                <a:latin typeface="+mj-lt"/>
                <a:ea typeface="+mj-ea"/>
                <a:cs typeface="+mj-cs"/>
              </a:rPr>
              <a:t>Queries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7408" y="1355210"/>
            <a:ext cx="9731583" cy="55027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a:xfrm>
            <a:off x="2589212" y="1712259"/>
            <a:ext cx="8915400" cy="4198963"/>
          </a:xfrm>
        </p:spPr>
        <p:txBody>
          <a:bodyPr/>
          <a:lstStyle/>
          <a:p>
            <a:r>
              <a:rPr lang="en-US" dirty="0"/>
              <a:t>The hospitality project has provided valuable insights into how data-driven tools like </a:t>
            </a:r>
            <a:r>
              <a:rPr lang="en-US" b="1" dirty="0"/>
              <a:t>Power BI, Tableau, Excel, and MySQL</a:t>
            </a:r>
            <a:r>
              <a:rPr lang="en-US" dirty="0"/>
              <a:t> can significantly enhance operational efficiency, guest satisfaction, and decision-making processes within the hospitality industry.</a:t>
            </a:r>
          </a:p>
          <a:p>
            <a:r>
              <a:rPr lang="en-US" dirty="0"/>
              <a:t>By designing and implementing interactive dashboards, we successfully integrated multiple data sources to track key performance indicators (KPIs) such as occupancy rates, revenue, customer feedback, and operational costs. This not only improved transparency and reporting accuracy but also empowered management to make informed, strategic decisions in real-time</a:t>
            </a:r>
          </a:p>
          <a:p>
            <a:r>
              <a:rPr lang="en-US" dirty="0"/>
              <a:t>In conclusion, this project reinforces that technology and data intelligence are essential for delivering exceptional guest experiences and achieving operational excellence in today’s hospitality landscape.</a:t>
            </a:r>
          </a:p>
          <a:p>
            <a:endParaRPr lang="en-US" dirty="0"/>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472</Words>
  <Application>Microsoft Office PowerPoint</Application>
  <PresentationFormat>Widescreen</PresentationFormat>
  <Paragraphs>51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Wingdings 3</vt:lpstr>
      <vt:lpstr>Wisp</vt:lpstr>
      <vt:lpstr>Hospitality Project Presentation</vt:lpstr>
      <vt:lpstr>Introduction:</vt:lpstr>
      <vt:lpstr>Objectives:</vt:lpstr>
      <vt:lpstr>KPI CARDS </vt:lpstr>
      <vt:lpstr>Problems Faced</vt:lpstr>
      <vt:lpstr>Solutions</vt:lpstr>
      <vt:lpstr>PowerPoint Presentation</vt:lpstr>
      <vt:lpstr>Excel_Dashboard</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Hospitality Project Presentation</dc:title>
  <dc:creator>Srushti Kulkarni</dc:creator>
  <cp:lastModifiedBy>Vishal Rajput</cp:lastModifiedBy>
  <cp:revision>8</cp:revision>
  <dcterms:created xsi:type="dcterms:W3CDTF">2025-09-29T16:33:00Z</dcterms:created>
  <dcterms:modified xsi:type="dcterms:W3CDTF">2025-11-01T06:30:41Z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71EDCE11A05143E1A1E1EC40ED4B2D57_12</vt:lpwstr>
  </property>
  <property fmtid="{D5CDD505-2E9C-101B-9397-08002B2CF9AE}" pid="3" name="KSOProductBuildVer">
    <vt:lpwstr>1033-12.2.0.23131</vt:lpwstr>
  </property>
</Properties>
</file>